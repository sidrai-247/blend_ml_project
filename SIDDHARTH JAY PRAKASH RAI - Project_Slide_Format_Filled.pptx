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858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ddharth Rai" userId="4165e0224d0d6186" providerId="LiveId" clId="{6A2BC7F4-A217-4B33-BC94-4B97C50FB759}"/>
    <pc:docChg chg="undo custSel modSld">
      <pc:chgData name="Siddharth Rai" userId="4165e0224d0d6186" providerId="LiveId" clId="{6A2BC7F4-A217-4B33-BC94-4B97C50FB759}" dt="2026-10-09T12:47:47.142" v="334" actId="20577"/>
      <pc:docMkLst>
        <pc:docMk/>
      </pc:docMkLst>
      <pc:sldChg chg="modSp mod">
        <pc:chgData name="Siddharth Rai" userId="4165e0224d0d6186" providerId="LiveId" clId="{6A2BC7F4-A217-4B33-BC94-4B97C50FB759}" dt="2026-10-09T12:47:47.142" v="334" actId="20577"/>
        <pc:sldMkLst>
          <pc:docMk/>
          <pc:sldMk cId="0" sldId="256"/>
        </pc:sldMkLst>
        <pc:spChg chg="mod">
          <ac:chgData name="Siddharth Rai" userId="4165e0224d0d6186" providerId="LiveId" clId="{6A2BC7F4-A217-4B33-BC94-4B97C50FB759}" dt="2026-10-09T12:47:47.142" v="334" actId="20577"/>
          <ac:spMkLst>
            <pc:docMk/>
            <pc:sldMk cId="0" sldId="256"/>
            <ac:spMk id="5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1c7ed22ee3b87af0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1c7ed22ee3b87af0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h1c7ed22ee3b87af0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h1c7ed22ee3b87af0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106525" y="211075"/>
            <a:ext cx="8520600" cy="67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Statement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615550" y="1149100"/>
            <a:ext cx="6935400" cy="347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900"/>
              </a:spcAft>
              <a:buNone/>
            </a:pPr>
            <a:r>
              <a:rPr lang="en-GB" sz="1800" b="1" dirty="0">
                <a:solidFill>
                  <a:schemeClr val="dk2"/>
                </a:solidFill>
              </a:rPr>
              <a:t>Region-Aware RAG to Close LLMs' Cultural Gap (</a:t>
            </a:r>
            <a:r>
              <a:rPr lang="en-GB" sz="1800" b="1" dirty="0" err="1">
                <a:solidFill>
                  <a:schemeClr val="dk2"/>
                </a:solidFill>
              </a:rPr>
              <a:t>BLEnD</a:t>
            </a:r>
            <a:r>
              <a:rPr lang="en-GB" sz="1800" b="1" dirty="0">
                <a:solidFill>
                  <a:schemeClr val="dk2"/>
                </a:solidFill>
              </a:rPr>
              <a:t>)</a:t>
            </a:r>
            <a:endParaRPr sz="18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2"/>
                </a:solidFill>
              </a:rPr>
              <a:t>1) Group Name : </a:t>
            </a:r>
            <a:r>
              <a:rPr lang="en-US" sz="1800" dirty="0">
                <a:solidFill>
                  <a:schemeClr val="dk2"/>
                </a:solidFill>
              </a:rPr>
              <a:t>Team </a:t>
            </a:r>
            <a:r>
              <a:rPr lang="en-US" sz="1800" dirty="0" err="1">
                <a:solidFill>
                  <a:schemeClr val="dk2"/>
                </a:solidFill>
              </a:rPr>
              <a:t>BlenD</a:t>
            </a:r>
            <a:endParaRPr sz="18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2"/>
                </a:solidFill>
              </a:rPr>
              <a:t>2) Team Name, Roll no : 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1800" dirty="0">
                <a:solidFill>
                  <a:schemeClr val="dk2"/>
                </a:solidFill>
              </a:rPr>
              <a:t>Siddharth Jay Prakash Rai - 12342050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1800" dirty="0">
                <a:solidFill>
                  <a:schemeClr val="dk2"/>
                </a:solidFill>
              </a:rPr>
              <a:t>Gaurav Kumar - 12340790</a:t>
            </a:r>
            <a:endParaRPr sz="18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2"/>
                </a:solidFill>
              </a:rPr>
              <a:t>3) Novelty :</a:t>
            </a:r>
            <a:endParaRPr sz="1800" dirty="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2"/>
                </a:solidFill>
              </a:rPr>
              <a:t>    Cultural Knowledge Base per Country + Hybrid Adaptive RAG that         improved LLM performance on Low resource Countries.</a:t>
            </a:r>
            <a:r>
              <a:rPr lang="en-GB" sz="1800" dirty="0">
                <a:solidFill>
                  <a:schemeClr val="dk2"/>
                </a:solidFill>
              </a:rPr>
              <a:t> </a:t>
            </a:r>
            <a:r>
              <a:rPr lang="en-GB" sz="1600" dirty="0">
                <a:solidFill>
                  <a:schemeClr val="dk2"/>
                </a:solidFill>
              </a:rPr>
              <a:t>Low-resource Accuracy 28.3% → 48.7%;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2"/>
                </a:solidFill>
              </a:rPr>
              <a:t>4) Contributions :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dk2"/>
                </a:solidFill>
              </a:rPr>
              <a:t>Member 1 - Siddharth Rai: Knowledge Base, RAG v2.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dk2"/>
                </a:solidFill>
              </a:rPr>
              <a:t>Member 2 - Gaurav Kumar: Baseline, RAG v1 </a:t>
            </a:r>
            <a:endParaRPr lang="en-GB" sz="18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Architecture</a:t>
            </a:r>
            <a:endParaRPr/>
          </a:p>
        </p:txBody>
      </p:sp>
      <p:grpSp>
        <p:nvGrpSpPr>
          <p:cNvPr id="229" name="Architecture diagram"/>
          <p:cNvGrpSpPr/>
          <p:nvPr/>
        </p:nvGrpSpPr>
        <p:grpSpPr>
          <a:xfrm>
            <a:off x="320040" y="1115568"/>
            <a:ext cx="8503920" cy="3438144"/>
            <a:chOff x="320040" y="1115568"/>
            <a:chExt cx="8503920" cy="3438144"/>
          </a:xfrm>
        </p:grpSpPr>
        <p:cxnSp>
          <p:nvCxnSpPr>
            <p:cNvPr id="213" name="Arrow 213"/>
            <p:cNvCxnSpPr/>
            <p:nvPr/>
          </p:nvCxnSpPr>
          <p:spPr>
            <a:xfrm>
              <a:off x="1801368" y="1504188"/>
              <a:ext cx="274320" cy="0"/>
            </a:xfrm>
            <a:prstGeom prst="straightConnector1">
              <a:avLst/>
            </a:prstGeom>
            <a:ln w="15875">
              <a:solidFill>
                <a:srgbClr val="595959"/>
              </a:solidFill>
              <a:tailEnd type="triangle" w="med" len="med"/>
            </a:ln>
          </p:spPr>
        </p:cxnSp>
        <p:cxnSp>
          <p:nvCxnSpPr>
            <p:cNvPr id="214" name="Arrow 214"/>
            <p:cNvCxnSpPr/>
            <p:nvPr/>
          </p:nvCxnSpPr>
          <p:spPr>
            <a:xfrm>
              <a:off x="3557016" y="1504188"/>
              <a:ext cx="274320" cy="0"/>
            </a:xfrm>
            <a:prstGeom prst="straightConnector1">
              <a:avLst/>
            </a:prstGeom>
            <a:ln w="15875">
              <a:solidFill>
                <a:srgbClr val="595959"/>
              </a:solidFill>
              <a:tailEnd type="triangle" w="med" len="med"/>
            </a:ln>
          </p:spPr>
        </p:cxnSp>
        <p:cxnSp>
          <p:nvCxnSpPr>
            <p:cNvPr id="215" name="Arrow 215"/>
            <p:cNvCxnSpPr/>
            <p:nvPr/>
          </p:nvCxnSpPr>
          <p:spPr>
            <a:xfrm>
              <a:off x="5312664" y="1504188"/>
              <a:ext cx="274320" cy="0"/>
            </a:xfrm>
            <a:prstGeom prst="straightConnector1">
              <a:avLst/>
            </a:prstGeom>
            <a:ln w="15875">
              <a:solidFill>
                <a:srgbClr val="595959"/>
              </a:solidFill>
              <a:tailEnd type="triangle" w="med" len="med"/>
            </a:ln>
          </p:spPr>
        </p:cxnSp>
        <p:cxnSp>
          <p:nvCxnSpPr>
            <p:cNvPr id="216" name="Arrow 216"/>
            <p:cNvCxnSpPr/>
            <p:nvPr/>
          </p:nvCxnSpPr>
          <p:spPr>
            <a:xfrm>
              <a:off x="7068312" y="1504188"/>
              <a:ext cx="274320" cy="0"/>
            </a:xfrm>
            <a:prstGeom prst="straightConnector1">
              <a:avLst/>
            </a:prstGeom>
            <a:ln w="15875">
              <a:solidFill>
                <a:srgbClr val="595959"/>
              </a:solidFill>
              <a:tailEnd type="triangle" w="med" len="med"/>
            </a:ln>
          </p:spPr>
        </p:cxnSp>
        <p:cxnSp>
          <p:nvCxnSpPr>
            <p:cNvPr id="217" name="Arrow 217"/>
            <p:cNvCxnSpPr/>
            <p:nvPr/>
          </p:nvCxnSpPr>
          <p:spPr>
            <a:xfrm flipV="1">
              <a:off x="4572000" y="1892808"/>
              <a:ext cx="0" cy="365760"/>
            </a:xfrm>
            <a:prstGeom prst="straightConnector1">
              <a:avLst/>
            </a:prstGeom>
            <a:ln w="15875">
              <a:solidFill>
                <a:srgbClr val="595959"/>
              </a:solidFill>
              <a:tailEnd type="triangle" w="med" len="med"/>
            </a:ln>
          </p:spPr>
        </p:cxnSp>
        <p:cxnSp>
          <p:nvCxnSpPr>
            <p:cNvPr id="218" name="Arrow 218"/>
            <p:cNvCxnSpPr/>
            <p:nvPr/>
          </p:nvCxnSpPr>
          <p:spPr>
            <a:xfrm>
              <a:off x="8083296" y="1892808"/>
              <a:ext cx="0" cy="365760"/>
            </a:xfrm>
            <a:prstGeom prst="straightConnector1">
              <a:avLst/>
            </a:prstGeom>
            <a:ln w="15875">
              <a:solidFill>
                <a:srgbClr val="595959"/>
              </a:solidFill>
              <a:tailEnd type="triangle" w="med" len="med"/>
            </a:ln>
          </p:spPr>
        </p:cxnSp>
        <p:cxnSp>
          <p:nvCxnSpPr>
            <p:cNvPr id="219" name="Arrow 219"/>
            <p:cNvCxnSpPr/>
            <p:nvPr/>
          </p:nvCxnSpPr>
          <p:spPr>
            <a:xfrm flipH="1">
              <a:off x="7068312" y="2647188"/>
              <a:ext cx="274320" cy="0"/>
            </a:xfrm>
            <a:prstGeom prst="straightConnector1">
              <a:avLst/>
            </a:prstGeom>
            <a:ln w="15875">
              <a:solidFill>
                <a:srgbClr val="595959"/>
              </a:solidFill>
              <a:tailEnd type="triangle" w="med" len="med"/>
            </a:ln>
          </p:spPr>
        </p:cxnSp>
        <p:cxnSp>
          <p:nvCxnSpPr>
            <p:cNvPr id="220" name="Arrow 220"/>
            <p:cNvCxnSpPr/>
            <p:nvPr/>
          </p:nvCxnSpPr>
          <p:spPr>
            <a:xfrm>
              <a:off x="6327648" y="3035808"/>
              <a:ext cx="0" cy="365760"/>
            </a:xfrm>
            <a:prstGeom prst="straightConnector1">
              <a:avLst/>
            </a:prstGeom>
            <a:ln w="15875">
              <a:solidFill>
                <a:srgbClr val="595959"/>
              </a:solidFill>
              <a:tailEnd type="triangle" w="med" len="med"/>
            </a:ln>
          </p:spPr>
        </p:cxnSp>
        <p:cxnSp>
          <p:nvCxnSpPr>
            <p:cNvPr id="221" name="Arrow 221"/>
            <p:cNvCxnSpPr/>
            <p:nvPr/>
          </p:nvCxnSpPr>
          <p:spPr>
            <a:xfrm>
              <a:off x="8083296" y="3035808"/>
              <a:ext cx="0" cy="365760"/>
            </a:xfrm>
            <a:prstGeom prst="straightConnector1">
              <a:avLst/>
            </a:prstGeom>
            <a:ln w="15875">
              <a:solidFill>
                <a:srgbClr val="595959"/>
              </a:solidFill>
              <a:tailEnd type="triangle" w="med" len="med"/>
            </a:ln>
          </p:spPr>
        </p:cxnSp>
        <p:cxnSp>
          <p:nvCxnSpPr>
            <p:cNvPr id="222" name="Arrow 222"/>
            <p:cNvCxnSpPr/>
            <p:nvPr/>
          </p:nvCxnSpPr>
          <p:spPr>
            <a:xfrm flipH="1">
              <a:off x="5312664" y="3790188"/>
              <a:ext cx="274320" cy="0"/>
            </a:xfrm>
            <a:prstGeom prst="straightConnector1">
              <a:avLst/>
            </a:prstGeom>
            <a:ln w="15875">
              <a:solidFill>
                <a:srgbClr val="595959"/>
              </a:solidFill>
              <a:tailEnd type="triangle" w="med" len="med"/>
            </a:ln>
          </p:spPr>
        </p:cxnSp>
        <p:cxnSp>
          <p:nvCxnSpPr>
            <p:cNvPr id="223" name="Arrow 223"/>
            <p:cNvCxnSpPr/>
            <p:nvPr/>
          </p:nvCxnSpPr>
          <p:spPr>
            <a:xfrm flipH="1">
              <a:off x="3557016" y="3790188"/>
              <a:ext cx="274320" cy="0"/>
            </a:xfrm>
            <a:prstGeom prst="straightConnector1">
              <a:avLst/>
            </a:prstGeom>
            <a:ln w="15875">
              <a:solidFill>
                <a:srgbClr val="595959"/>
              </a:solidFill>
              <a:tailEnd type="triangle" w="med" len="med"/>
            </a:ln>
          </p:spPr>
        </p:cxnSp>
        <p:cxnSp>
          <p:nvCxnSpPr>
            <p:cNvPr id="224" name="Arrow 224"/>
            <p:cNvCxnSpPr/>
            <p:nvPr/>
          </p:nvCxnSpPr>
          <p:spPr>
            <a:xfrm>
              <a:off x="8083296" y="4178808"/>
              <a:ext cx="0" cy="347472"/>
            </a:xfrm>
            <a:prstGeom prst="straightConnector1">
              <a:avLst/>
            </a:prstGeom>
            <a:ln w="15875">
              <a:solidFill>
                <a:srgbClr val="595959"/>
              </a:solidFill>
            </a:ln>
          </p:spPr>
        </p:cxnSp>
        <p:cxnSp>
          <p:nvCxnSpPr>
            <p:cNvPr id="225" name="Arrow 225"/>
            <p:cNvCxnSpPr/>
            <p:nvPr/>
          </p:nvCxnSpPr>
          <p:spPr>
            <a:xfrm flipH="1">
              <a:off x="4572000" y="4526280"/>
              <a:ext cx="3511296" cy="0"/>
            </a:xfrm>
            <a:prstGeom prst="straightConnector1">
              <a:avLst/>
            </a:prstGeom>
            <a:ln w="15875">
              <a:solidFill>
                <a:srgbClr val="595959"/>
              </a:solidFill>
            </a:ln>
          </p:spPr>
        </p:cxnSp>
        <p:cxnSp>
          <p:nvCxnSpPr>
            <p:cNvPr id="226" name="Arrow 226"/>
            <p:cNvCxnSpPr/>
            <p:nvPr/>
          </p:nvCxnSpPr>
          <p:spPr>
            <a:xfrm flipV="1">
              <a:off x="4572000" y="4178808"/>
              <a:ext cx="0" cy="347472"/>
            </a:xfrm>
            <a:prstGeom prst="straightConnector1">
              <a:avLst/>
            </a:prstGeom>
            <a:ln w="15875">
              <a:solidFill>
                <a:srgbClr val="595959"/>
              </a:solidFill>
              <a:tailEnd type="triangle" w="med" len="med"/>
            </a:ln>
          </p:spPr>
        </p:cxnSp>
        <p:sp>
          <p:nvSpPr>
            <p:cNvPr id="201" name="Diagram box 201"/>
            <p:cNvSpPr/>
            <p:nvPr/>
          </p:nvSpPr>
          <p:spPr>
            <a:xfrm>
              <a:off x="320040" y="1115568"/>
              <a:ext cx="1481328" cy="777240"/>
            </a:xfrm>
            <a:prstGeom prst="roundRect">
              <a:avLst>
                <a:gd name="adj" fmla="val 12000"/>
              </a:avLst>
            </a:prstGeom>
            <a:solidFill>
              <a:srgbClr val="DEEBF7"/>
            </a:solidFill>
            <a:ln w="12700">
              <a:solidFill>
                <a:srgbClr val="2E5C8A"/>
              </a:solidFill>
            </a:ln>
          </p:spPr>
          <p:txBody>
            <a:bodyPr wrap="square" lIns="45720" tIns="27432" rIns="45720" bIns="27432" anchor="ctr">
              <a:norm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-GB" sz="1050" b="1">
                  <a:solidFill>
                    <a:srgbClr val="1F1F1F"/>
                  </a:solidFill>
                </a:rPr>
                <a:t>BLEnD question</a:t>
              </a:r>
            </a:p>
            <a:p>
              <a:pPr algn="ctr">
                <a:spcBef>
                  <a:spcPts val="0"/>
                </a:spcBef>
                <a:buNone/>
              </a:pPr>
              <a:r>
                <a:rPr lang="en-GB" sz="950">
                  <a:solidFill>
                    <a:srgbClr val="1F1F1F"/>
                  </a:solidFill>
                </a:rPr>
                <a:t>local or English version</a:t>
              </a:r>
            </a:p>
          </p:txBody>
        </p:sp>
        <p:sp>
          <p:nvSpPr>
            <p:cNvPr id="202" name="Diagram box 202"/>
            <p:cNvSpPr/>
            <p:nvPr/>
          </p:nvSpPr>
          <p:spPr>
            <a:xfrm>
              <a:off x="2075688" y="1115568"/>
              <a:ext cx="1481328" cy="777240"/>
            </a:xfrm>
            <a:prstGeom prst="roundRect">
              <a:avLst>
                <a:gd name="adj" fmla="val 12000"/>
              </a:avLst>
            </a:prstGeom>
            <a:solidFill>
              <a:srgbClr val="DEEBF7"/>
            </a:solidFill>
            <a:ln w="12700">
              <a:solidFill>
                <a:srgbClr val="2E5C8A"/>
              </a:solidFill>
            </a:ln>
          </p:spPr>
          <p:txBody>
            <a:bodyPr wrap="square" lIns="45720" tIns="27432" rIns="45720" bIns="27432" anchor="ctr">
              <a:norm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-GB" sz="1050" b="1">
                  <a:solidFill>
                    <a:srgbClr val="1F1F1F"/>
                  </a:solidFill>
                </a:rPr>
                <a:t>Retrieval query</a:t>
              </a:r>
            </a:p>
            <a:p>
              <a:pPr algn="ctr">
                <a:spcBef>
                  <a:spcPts val="0"/>
                </a:spcBef>
                <a:buNone/>
              </a:pPr>
              <a:r>
                <a:rPr lang="en-GB" sz="950">
                  <a:solidFill>
                    <a:srgbClr val="1F1F1F"/>
                  </a:solidFill>
                </a:rPr>
                <a:t>English question text</a:t>
              </a:r>
            </a:p>
          </p:txBody>
        </p:sp>
        <p:sp>
          <p:nvSpPr>
            <p:cNvPr id="203" name="Diagram box 203"/>
            <p:cNvSpPr/>
            <p:nvPr/>
          </p:nvSpPr>
          <p:spPr>
            <a:xfrm>
              <a:off x="3831336" y="1115568"/>
              <a:ext cx="1481328" cy="777240"/>
            </a:xfrm>
            <a:prstGeom prst="roundRect">
              <a:avLst>
                <a:gd name="adj" fmla="val 12000"/>
              </a:avLst>
            </a:prstGeom>
            <a:solidFill>
              <a:srgbClr val="DEEBF7"/>
            </a:solidFill>
            <a:ln w="12700">
              <a:solidFill>
                <a:srgbClr val="2E5C8A"/>
              </a:solidFill>
            </a:ln>
          </p:spPr>
          <p:txBody>
            <a:bodyPr wrap="square" lIns="45720" tIns="27432" rIns="45720" bIns="27432" anchor="ctr">
              <a:norm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-GB" sz="1050" b="1">
                  <a:solidFill>
                    <a:srgbClr val="1F1F1F"/>
                  </a:solidFill>
                </a:rPr>
                <a:t>Dense retrieval</a:t>
              </a:r>
            </a:p>
            <a:p>
              <a:pPr algn="ctr">
                <a:spcBef>
                  <a:spcPts val="0"/>
                </a:spcBef>
                <a:buNone/>
              </a:pPr>
              <a:r>
                <a:rPr lang="en-GB" sz="950">
                  <a:solidFill>
                    <a:srgbClr val="1F1F1F"/>
                  </a:solidFill>
                </a:rPr>
                <a:t>bge-m3, top-20</a:t>
              </a:r>
            </a:p>
            <a:p>
              <a:pPr algn="ctr">
                <a:spcBef>
                  <a:spcPts val="0"/>
                </a:spcBef>
                <a:buNone/>
              </a:pPr>
              <a:r>
                <a:rPr lang="en-GB" sz="950">
                  <a:solidFill>
                    <a:srgbClr val="1F1F1F"/>
                  </a:solidFill>
                </a:rPr>
                <a:t>target country's KB only</a:t>
              </a:r>
            </a:p>
          </p:txBody>
        </p:sp>
        <p:sp>
          <p:nvSpPr>
            <p:cNvPr id="204" name="Diagram box 204"/>
            <p:cNvSpPr/>
            <p:nvPr/>
          </p:nvSpPr>
          <p:spPr>
            <a:xfrm>
              <a:off x="5586984" y="1115568"/>
              <a:ext cx="1481328" cy="777240"/>
            </a:xfrm>
            <a:prstGeom prst="roundRect">
              <a:avLst>
                <a:gd name="adj" fmla="val 12000"/>
              </a:avLst>
            </a:prstGeom>
            <a:solidFill>
              <a:srgbClr val="DEEBF7"/>
            </a:solidFill>
            <a:ln w="12700">
              <a:solidFill>
                <a:srgbClr val="2E5C8A"/>
              </a:solidFill>
            </a:ln>
          </p:spPr>
          <p:txBody>
            <a:bodyPr wrap="square" lIns="45720" tIns="27432" rIns="45720" bIns="27432" anchor="ctr">
              <a:norm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-GB" sz="1050" b="1">
                  <a:solidFill>
                    <a:srgbClr val="1F1F1F"/>
                  </a:solidFill>
                </a:rPr>
                <a:t>Reranker</a:t>
              </a:r>
            </a:p>
            <a:p>
              <a:pPr algn="ctr">
                <a:spcBef>
                  <a:spcPts val="0"/>
                </a:spcBef>
                <a:buNone/>
              </a:pPr>
              <a:r>
                <a:rPr lang="en-GB" sz="950">
                  <a:solidFill>
                    <a:srgbClr val="1F1F1F"/>
                  </a:solidFill>
                </a:rPr>
                <a:t>MiniLM cross-encoder</a:t>
              </a:r>
            </a:p>
            <a:p>
              <a:pPr algn="ctr">
                <a:spcBef>
                  <a:spcPts val="0"/>
                </a:spcBef>
                <a:buNone/>
              </a:pPr>
              <a:r>
                <a:rPr lang="en-GB" sz="950">
                  <a:solidFill>
                    <a:srgbClr val="1F1F1F"/>
                  </a:solidFill>
                </a:rPr>
                <a:t>relevance score 0–1</a:t>
              </a:r>
            </a:p>
          </p:txBody>
        </p:sp>
        <p:sp>
          <p:nvSpPr>
            <p:cNvPr id="205" name="Diagram box 205"/>
            <p:cNvSpPr/>
            <p:nvPr/>
          </p:nvSpPr>
          <p:spPr>
            <a:xfrm>
              <a:off x="7342632" y="1115568"/>
              <a:ext cx="1481328" cy="777240"/>
            </a:xfrm>
            <a:prstGeom prst="roundRect">
              <a:avLst>
                <a:gd name="adj" fmla="val 12000"/>
              </a:avLst>
            </a:prstGeom>
            <a:solidFill>
              <a:srgbClr val="DEEBF7"/>
            </a:solidFill>
            <a:ln w="12700">
              <a:solidFill>
                <a:srgbClr val="2E5C8A"/>
              </a:solidFill>
            </a:ln>
          </p:spPr>
          <p:txBody>
            <a:bodyPr wrap="square" lIns="45720" tIns="27432" rIns="45720" bIns="27432" anchor="ctr">
              <a:norm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-GB" sz="1050" b="1">
                  <a:solidFill>
                    <a:srgbClr val="1F1F1F"/>
                  </a:solidFill>
                </a:rPr>
                <a:t>Relevance cut-off</a:t>
              </a:r>
            </a:p>
            <a:p>
              <a:pPr algn="ctr">
                <a:spcBef>
                  <a:spcPts val="0"/>
                </a:spcBef>
                <a:buNone/>
              </a:pPr>
              <a:r>
                <a:rPr lang="en-GB" sz="950">
                  <a:solidFill>
                    <a:srgbClr val="1F1F1F"/>
                  </a:solidFill>
                </a:rPr>
                <a:t>keep ≤ 3 cards</a:t>
              </a:r>
            </a:p>
            <a:p>
              <a:pPr algn="ctr">
                <a:spcBef>
                  <a:spcPts val="0"/>
                </a:spcBef>
                <a:buNone/>
              </a:pPr>
              <a:r>
                <a:rPr lang="en-GB" sz="950">
                  <a:solidFill>
                    <a:srgbClr val="1F1F1F"/>
                  </a:solidFill>
                </a:rPr>
                <a:t>with score ≥ 0.45</a:t>
              </a:r>
            </a:p>
          </p:txBody>
        </p:sp>
        <p:sp>
          <p:nvSpPr>
            <p:cNvPr id="206" name="Diagram box 206"/>
            <p:cNvSpPr/>
            <p:nvPr/>
          </p:nvSpPr>
          <p:spPr>
            <a:xfrm>
              <a:off x="3831336" y="2258568"/>
              <a:ext cx="1481328" cy="777240"/>
            </a:xfrm>
            <a:prstGeom prst="flowChartMagneticDisk">
              <a:avLst/>
            </a:prstGeom>
            <a:solidFill>
              <a:srgbClr val="E2F0D9"/>
            </a:solidFill>
            <a:ln w="12700">
              <a:solidFill>
                <a:srgbClr val="538135"/>
              </a:solidFill>
            </a:ln>
          </p:spPr>
          <p:txBody>
            <a:bodyPr wrap="square" lIns="45720" tIns="201168" rIns="45720" bIns="27432" anchor="ctr">
              <a:norm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-GB" sz="1050" b="1">
                  <a:solidFill>
                    <a:srgbClr val="1F1F1F"/>
                  </a:solidFill>
                </a:rPr>
                <a:t>Country KB (English)</a:t>
              </a:r>
            </a:p>
            <a:p>
              <a:pPr algn="ctr">
                <a:spcBef>
                  <a:spcPts val="0"/>
                </a:spcBef>
                <a:buNone/>
              </a:pPr>
              <a:r>
                <a:rPr lang="en-GB" sz="950">
                  <a:solidFill>
                    <a:srgbClr val="1F1F1F"/>
                  </a:solidFill>
                </a:rPr>
                <a:t>v1 720 + v2 295 cards</a:t>
              </a:r>
            </a:p>
          </p:txBody>
        </p:sp>
        <p:sp>
          <p:nvSpPr>
            <p:cNvPr id="207" name="Diagram box 207"/>
            <p:cNvSpPr/>
            <p:nvPr/>
          </p:nvSpPr>
          <p:spPr>
            <a:xfrm>
              <a:off x="5586984" y="2258568"/>
              <a:ext cx="1481328" cy="777240"/>
            </a:xfrm>
            <a:prstGeom prst="roundRect">
              <a:avLst>
                <a:gd name="adj" fmla="val 12000"/>
              </a:avLst>
            </a:prstGeom>
            <a:solidFill>
              <a:srgbClr val="FBE5D6"/>
            </a:solidFill>
            <a:ln w="12700">
              <a:solidFill>
                <a:srgbClr val="C55A11"/>
              </a:solidFill>
            </a:ln>
          </p:spPr>
          <p:txBody>
            <a:bodyPr wrap="square" lIns="45720" tIns="27432" rIns="45720" bIns="27432" anchor="ctr">
              <a:norm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-GB" sz="1050" b="1">
                  <a:solidFill>
                    <a:srgbClr val="1F1F1F"/>
                  </a:solidFill>
                </a:rPr>
                <a:t>Prompt v2</a:t>
              </a:r>
            </a:p>
            <a:p>
              <a:pPr algn="ctr">
                <a:spcBef>
                  <a:spcPts val="0"/>
                </a:spcBef>
                <a:buNone/>
              </a:pPr>
              <a:r>
                <a:rPr lang="en-GB" sz="950">
                  <a:solidFill>
                    <a:srgbClr val="1F1F1F"/>
                  </a:solidFill>
                </a:rPr>
                <a:t>cards + “use if relevant”</a:t>
              </a:r>
            </a:p>
            <a:p>
              <a:pPr algn="ctr">
                <a:spcBef>
                  <a:spcPts val="0"/>
                </a:spcBef>
                <a:buNone/>
              </a:pPr>
              <a:r>
                <a:rPr lang="en-GB" sz="950">
                  <a:solidFill>
                    <a:srgbClr val="1F1F1F"/>
                  </a:solidFill>
                </a:rPr>
                <a:t>+ original question</a:t>
              </a:r>
            </a:p>
          </p:txBody>
        </p:sp>
        <p:sp>
          <p:nvSpPr>
            <p:cNvPr id="208" name="Diagram box 208"/>
            <p:cNvSpPr/>
            <p:nvPr/>
          </p:nvSpPr>
          <p:spPr>
            <a:xfrm>
              <a:off x="7342632" y="2258568"/>
              <a:ext cx="1481328" cy="777240"/>
            </a:xfrm>
            <a:prstGeom prst="diamond">
              <a:avLst/>
            </a:prstGeom>
            <a:solidFill>
              <a:srgbClr val="FFF2CC"/>
            </a:solidFill>
            <a:ln w="12700">
              <a:solidFill>
                <a:srgbClr val="BF8F00"/>
              </a:solidFill>
            </a:ln>
          </p:spPr>
          <p:txBody>
            <a:bodyPr wrap="square" lIns="45720" tIns="27432" rIns="45720" bIns="27432" anchor="ctr">
              <a:norm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-GB" sz="1050" b="1">
                  <a:solidFill>
                    <a:srgbClr val="1F1F1F"/>
                  </a:solidFill>
                </a:rPr>
                <a:t>Relevant</a:t>
              </a:r>
            </a:p>
            <a:p>
              <a:pPr algn="ctr">
                <a:spcBef>
                  <a:spcPts val="0"/>
                </a:spcBef>
                <a:buNone/>
              </a:pPr>
              <a:r>
                <a:rPr lang="en-GB" sz="950">
                  <a:solidFill>
                    <a:srgbClr val="1F1F1F"/>
                  </a:solidFill>
                </a:rPr>
                <a:t>card?</a:t>
              </a:r>
            </a:p>
          </p:txBody>
        </p:sp>
        <p:sp>
          <p:nvSpPr>
            <p:cNvPr id="209" name="Diagram box 209"/>
            <p:cNvSpPr/>
            <p:nvPr/>
          </p:nvSpPr>
          <p:spPr>
            <a:xfrm>
              <a:off x="2075688" y="3401568"/>
              <a:ext cx="1481328" cy="777240"/>
            </a:xfrm>
            <a:prstGeom prst="roundRect">
              <a:avLst>
                <a:gd name="adj" fmla="val 12000"/>
              </a:avLst>
            </a:prstGeom>
            <a:solidFill>
              <a:srgbClr val="EDEDED"/>
            </a:solidFill>
            <a:ln w="12700">
              <a:solidFill>
                <a:srgbClr val="7F7F7F"/>
              </a:solidFill>
            </a:ln>
          </p:spPr>
          <p:txBody>
            <a:bodyPr wrap="square" lIns="45720" tIns="27432" rIns="45720" bIns="27432" anchor="ctr">
              <a:norm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-GB" sz="1050" b="1">
                  <a:solidFill>
                    <a:srgbClr val="1F1F1F"/>
                  </a:solidFill>
                </a:rPr>
                <a:t>Results</a:t>
              </a:r>
            </a:p>
            <a:p>
              <a:pPr algn="ctr">
                <a:spcBef>
                  <a:spcPts val="0"/>
                </a:spcBef>
                <a:buNone/>
              </a:pPr>
              <a:r>
                <a:rPr lang="en-GB" sz="950">
                  <a:solidFill>
                    <a:srgbClr val="1F1F1F"/>
                  </a:solidFill>
                </a:rPr>
                <a:t>Baseline, RAG v1,</a:t>
              </a:r>
            </a:p>
            <a:p>
              <a:pPr algn="ctr">
                <a:spcBef>
                  <a:spcPts val="0"/>
                </a:spcBef>
                <a:buNone/>
              </a:pPr>
              <a:r>
                <a:rPr lang="en-GB" sz="950">
                  <a:solidFill>
                    <a:srgbClr val="1F1F1F"/>
                  </a:solidFill>
                </a:rPr>
                <a:t>RAG v2</a:t>
              </a:r>
            </a:p>
          </p:txBody>
        </p:sp>
        <p:sp>
          <p:nvSpPr>
            <p:cNvPr id="210" name="Diagram box 210"/>
            <p:cNvSpPr/>
            <p:nvPr/>
          </p:nvSpPr>
          <p:spPr>
            <a:xfrm>
              <a:off x="3831336" y="3401568"/>
              <a:ext cx="1481328" cy="777240"/>
            </a:xfrm>
            <a:prstGeom prst="roundRect">
              <a:avLst>
                <a:gd name="adj" fmla="val 12000"/>
              </a:avLst>
            </a:prstGeom>
            <a:solidFill>
              <a:srgbClr val="EDEDED"/>
            </a:solidFill>
            <a:ln w="12700">
              <a:solidFill>
                <a:srgbClr val="7F7F7F"/>
              </a:solidFill>
            </a:ln>
          </p:spPr>
          <p:txBody>
            <a:bodyPr wrap="square" lIns="45720" tIns="27432" rIns="45720" bIns="27432" anchor="ctr">
              <a:norm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-GB" sz="1050" b="1">
                  <a:solidFill>
                    <a:srgbClr val="1F1F1F"/>
                  </a:solidFill>
                </a:rPr>
                <a:t>BLEnD scorer</a:t>
              </a:r>
            </a:p>
            <a:p>
              <a:pPr algn="ctr">
                <a:spcBef>
                  <a:spcPts val="0"/>
                </a:spcBef>
                <a:buNone/>
              </a:pPr>
              <a:r>
                <a:rPr lang="en-GB" sz="950">
                  <a:solidFill>
                    <a:srgbClr val="1F1F1F"/>
                  </a:solidFill>
                </a:rPr>
                <a:t>official soft exact</a:t>
              </a:r>
            </a:p>
            <a:p>
              <a:pPr algn="ctr">
                <a:spcBef>
                  <a:spcPts val="0"/>
                </a:spcBef>
                <a:buNone/>
              </a:pPr>
              <a:r>
                <a:rPr lang="en-GB" sz="950">
                  <a:solidFill>
                    <a:srgbClr val="1F1F1F"/>
                  </a:solidFill>
                </a:rPr>
                <a:t>match (SEM-B)</a:t>
              </a:r>
            </a:p>
          </p:txBody>
        </p:sp>
        <p:sp>
          <p:nvSpPr>
            <p:cNvPr id="211" name="Diagram box 211"/>
            <p:cNvSpPr/>
            <p:nvPr/>
          </p:nvSpPr>
          <p:spPr>
            <a:xfrm>
              <a:off x="5586984" y="3401568"/>
              <a:ext cx="1481328" cy="777240"/>
            </a:xfrm>
            <a:prstGeom prst="roundRect">
              <a:avLst>
                <a:gd name="adj" fmla="val 12000"/>
              </a:avLst>
            </a:prstGeom>
            <a:solidFill>
              <a:srgbClr val="FBE5D6"/>
            </a:solidFill>
            <a:ln w="12700">
              <a:solidFill>
                <a:srgbClr val="C55A11"/>
              </a:solidFill>
            </a:ln>
          </p:spPr>
          <p:txBody>
            <a:bodyPr wrap="square" lIns="45720" tIns="27432" rIns="45720" bIns="27432" anchor="ctr">
              <a:norm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-GB" sz="1050" b="1">
                  <a:solidFill>
                    <a:srgbClr val="1F1F1F"/>
                  </a:solidFill>
                </a:rPr>
                <a:t>LLM (Ollama, GPU)</a:t>
              </a:r>
            </a:p>
            <a:p>
              <a:pPr algn="ctr">
                <a:spcBef>
                  <a:spcPts val="0"/>
                </a:spcBef>
                <a:buNone/>
              </a:pPr>
              <a:r>
                <a:rPr lang="en-GB" sz="950">
                  <a:solidFill>
                    <a:srgbClr val="1F1F1F"/>
                  </a:solidFill>
                </a:rPr>
                <a:t>Gemma3-4B, Mistral-7B,</a:t>
              </a:r>
            </a:p>
            <a:p>
              <a:pPr algn="ctr">
                <a:spcBef>
                  <a:spcPts val="0"/>
                </a:spcBef>
                <a:buNone/>
              </a:pPr>
              <a:r>
                <a:rPr lang="en-GB" sz="950">
                  <a:solidFill>
                    <a:srgbClr val="1F1F1F"/>
                  </a:solidFill>
                </a:rPr>
                <a:t>Qwen2.5-3B, greedy</a:t>
              </a:r>
            </a:p>
          </p:txBody>
        </p:sp>
        <p:sp>
          <p:nvSpPr>
            <p:cNvPr id="212" name="Diagram box 212"/>
            <p:cNvSpPr/>
            <p:nvPr/>
          </p:nvSpPr>
          <p:spPr>
            <a:xfrm>
              <a:off x="7342632" y="3401568"/>
              <a:ext cx="1481328" cy="777240"/>
            </a:xfrm>
            <a:prstGeom prst="roundRect">
              <a:avLst>
                <a:gd name="adj" fmla="val 12000"/>
              </a:avLst>
            </a:prstGeom>
            <a:solidFill>
              <a:srgbClr val="FFF2CC"/>
            </a:solidFill>
            <a:ln w="12700">
              <a:solidFill>
                <a:srgbClr val="BF8F00"/>
              </a:solidFill>
            </a:ln>
          </p:spPr>
          <p:txBody>
            <a:bodyPr wrap="square" lIns="45720" tIns="27432" rIns="45720" bIns="27432" anchor="ctr">
              <a:norm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en-GB" sz="1050" b="1">
                  <a:solidFill>
                    <a:srgbClr val="1F1F1F"/>
                  </a:solidFill>
                </a:rPr>
                <a:t>Adaptive gate</a:t>
              </a:r>
            </a:p>
            <a:p>
              <a:pPr algn="ctr">
                <a:spcBef>
                  <a:spcPts val="0"/>
                </a:spcBef>
                <a:buNone/>
              </a:pPr>
              <a:r>
                <a:rPr lang="en-GB" sz="950">
                  <a:solidFill>
                    <a:srgbClr val="1F1F1F"/>
                  </a:solidFill>
                </a:rPr>
                <a:t>baseline prompt →</a:t>
              </a:r>
            </a:p>
            <a:p>
              <a:pPr algn="ctr">
                <a:spcBef>
                  <a:spcPts val="0"/>
                </a:spcBef>
                <a:buNone/>
              </a:pPr>
              <a:r>
                <a:rPr lang="en-GB" sz="950">
                  <a:solidFill>
                    <a:srgbClr val="1F1F1F"/>
                  </a:solidFill>
                </a:rPr>
                <a:t>reuse baseline answer</a:t>
              </a:r>
            </a:p>
          </p:txBody>
        </p:sp>
        <p:sp>
          <p:nvSpPr>
            <p:cNvPr id="227" name="Label 227"/>
            <p:cNvSpPr txBox="1"/>
            <p:nvPr/>
          </p:nvSpPr>
          <p:spPr>
            <a:xfrm>
              <a:off x="7086600" y="2427732"/>
              <a:ext cx="256032" cy="164592"/>
            </a:xfrm>
            <a:prstGeom prst="rect">
              <a:avLst/>
            </a:prstGeom>
            <a:noFill/>
          </p:spPr>
          <p:txBody>
            <a:bodyPr wrap="none" lIns="0" tIns="0" rIns="0" bIns="0" anchor="ctr"/>
            <a:lstStyle/>
            <a:p>
              <a:pPr algn="ctr">
                <a:buNone/>
              </a:pPr>
              <a:r>
                <a:rPr lang="en-GB" sz="1000" b="1">
                  <a:solidFill>
                    <a:srgbClr val="404040"/>
                  </a:solidFill>
                </a:rPr>
                <a:t>Yes</a:t>
              </a:r>
            </a:p>
          </p:txBody>
        </p:sp>
        <p:sp>
          <p:nvSpPr>
            <p:cNvPr id="228" name="Label 228"/>
            <p:cNvSpPr txBox="1"/>
            <p:nvPr/>
          </p:nvSpPr>
          <p:spPr>
            <a:xfrm>
              <a:off x="8138160" y="3090672"/>
              <a:ext cx="256032" cy="164592"/>
            </a:xfrm>
            <a:prstGeom prst="rect">
              <a:avLst/>
            </a:prstGeom>
            <a:noFill/>
          </p:spPr>
          <p:txBody>
            <a:bodyPr wrap="none" lIns="0" tIns="0" rIns="0" bIns="0" anchor="ctr"/>
            <a:lstStyle/>
            <a:p>
              <a:pPr algn="ctr">
                <a:buNone/>
              </a:pPr>
              <a:r>
                <a:rPr lang="en-GB" sz="1000" b="1">
                  <a:solidFill>
                    <a:srgbClr val="404040"/>
                  </a:solidFill>
                </a:rPr>
                <a:t>No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Results and Findings</a:t>
            </a:r>
            <a:endParaRPr/>
          </a:p>
        </p:txBody>
      </p:sp>
      <p:graphicFrame>
        <p:nvGraphicFramePr>
          <p:cNvPr id="230" name="Results table"/>
          <p:cNvGraphicFramePr>
            <a:graphicFrameLocks noGrp="1"/>
          </p:cNvGraphicFramePr>
          <p:nvPr/>
        </p:nvGraphicFramePr>
        <p:xfrm>
          <a:off x="310896" y="1024128"/>
          <a:ext cx="4617720" cy="3236976"/>
        </p:xfrm>
        <a:graphic>
          <a:graphicData uri="http://schemas.openxmlformats.org/drawingml/2006/table">
            <a:tbl>
              <a:tblPr firstRow="1"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b="1">
                          <a:solidFill>
                            <a:srgbClr val="FFFFFF"/>
                          </a:solidFill>
                        </a:rPr>
                        <a:t>Country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b="1">
                          <a:solidFill>
                            <a:srgbClr val="FFFFFF"/>
                          </a:solidFill>
                        </a:rPr>
                        <a:t>Lang.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b="1">
                          <a:solidFill>
                            <a:srgbClr val="FFFFFF"/>
                          </a:solidFill>
                        </a:rPr>
                        <a:t>Baseline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b="1">
                          <a:solidFill>
                            <a:srgbClr val="FFFFFF"/>
                          </a:solidFill>
                        </a:rPr>
                        <a:t>RAG v1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b="1">
                          <a:solidFill>
                            <a:srgbClr val="FFFFFF"/>
                          </a:solidFill>
                        </a:rPr>
                        <a:t>RAG v2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b="1">
                          <a:solidFill>
                            <a:srgbClr val="FFFFFF"/>
                          </a:solidFill>
                        </a:rPr>
                        <a:t>Δ v2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US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en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74.9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53.5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73.2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b="1">
                          <a:solidFill>
                            <a:srgbClr val="C00000"/>
                          </a:solidFill>
                        </a:rPr>
                        <a:t>−1.7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 rowSpan="2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Spain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56.3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36.8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50.0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b="1">
                          <a:solidFill>
                            <a:srgbClr val="C00000"/>
                          </a:solidFill>
                        </a:rPr>
                        <a:t>−6.3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en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50.8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34.3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44.5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b="1">
                          <a:solidFill>
                            <a:srgbClr val="C00000"/>
                          </a:solidFill>
                        </a:rPr>
                        <a:t>−6.4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 rowSpan="2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South Korea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ko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48.0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39.2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43.7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b="1">
                          <a:solidFill>
                            <a:srgbClr val="C00000"/>
                          </a:solidFill>
                        </a:rPr>
                        <a:t>−4.3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en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47.7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35.8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42.3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b="1">
                          <a:solidFill>
                            <a:srgbClr val="C00000"/>
                          </a:solidFill>
                        </a:rPr>
                        <a:t>−5.4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 rowSpan="2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Azerbaijan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az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23.6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18.0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b="1">
                          <a:solidFill>
                            <a:srgbClr val="1F1F1F"/>
                          </a:solidFill>
                        </a:rPr>
                        <a:t>53.3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b="1">
                          <a:solidFill>
                            <a:srgbClr val="2E7D32"/>
                          </a:solidFill>
                        </a:rPr>
                        <a:t>+29.7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en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47.6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30.6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b="1">
                          <a:solidFill>
                            <a:srgbClr val="1F1F1F"/>
                          </a:solidFill>
                        </a:rPr>
                        <a:t>65.4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b="1">
                          <a:solidFill>
                            <a:srgbClr val="2E7D32"/>
                          </a:solidFill>
                        </a:rPr>
                        <a:t>+17.9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 rowSpan="2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Ethiopia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am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7.9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12.3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b="1">
                          <a:solidFill>
                            <a:srgbClr val="1F1F1F"/>
                          </a:solidFill>
                        </a:rPr>
                        <a:t>28.0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b="1">
                          <a:solidFill>
                            <a:srgbClr val="2E7D32"/>
                          </a:solidFill>
                        </a:rPr>
                        <a:t>+20.1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en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34.1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23.7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b="1">
                          <a:solidFill>
                            <a:srgbClr val="1F1F1F"/>
                          </a:solidFill>
                        </a:rPr>
                        <a:t>48.0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b="1">
                          <a:solidFill>
                            <a:srgbClr val="2E7D32"/>
                          </a:solidFill>
                        </a:rPr>
                        <a:t>+13.9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 gridSpan="2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100" b="1">
                          <a:solidFill>
                            <a:srgbClr val="1F1F1F"/>
                          </a:solidFill>
                        </a:rPr>
                        <a:t>All 9 settings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43.4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31.6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b="1">
                          <a:solidFill>
                            <a:srgbClr val="1F1F1F"/>
                          </a:solidFill>
                        </a:rPr>
                        <a:t>49.8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b="1">
                          <a:solidFill>
                            <a:srgbClr val="2E7D32"/>
                          </a:solidFill>
                        </a:rPr>
                        <a:t>+6.4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 gridSpan="2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100" b="1">
                          <a:solidFill>
                            <a:srgbClr val="1F1F1F"/>
                          </a:solidFill>
                        </a:rPr>
                        <a:t>High-resource avg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55.5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39.9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b="1">
                          <a:solidFill>
                            <a:srgbClr val="1F1F1F"/>
                          </a:solidFill>
                        </a:rPr>
                        <a:t>50.7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b="1">
                          <a:solidFill>
                            <a:srgbClr val="C00000"/>
                          </a:solidFill>
                        </a:rPr>
                        <a:t>−4.8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888">
                <a:tc gridSpan="2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100" b="1">
                          <a:solidFill>
                            <a:srgbClr val="1F1F1F"/>
                          </a:solidFill>
                        </a:rPr>
                        <a:t>Low-resource avg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28.3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21.2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b="1">
                          <a:solidFill>
                            <a:srgbClr val="1F1F1F"/>
                          </a:solidFill>
                        </a:rPr>
                        <a:t>48.7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b="1">
                          <a:solidFill>
                            <a:srgbClr val="2E7D32"/>
                          </a:solidFill>
                        </a:rPr>
                        <a:t>+20.4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231" name="Findings table"/>
          <p:cNvGraphicFramePr>
            <a:graphicFrameLocks noGrp="1"/>
          </p:cNvGraphicFramePr>
          <p:nvPr/>
        </p:nvGraphicFramePr>
        <p:xfrm>
          <a:off x="5166360" y="1024128"/>
          <a:ext cx="3657600" cy="3044952"/>
        </p:xfrm>
        <a:graphic>
          <a:graphicData uri="http://schemas.openxmlformats.org/drawingml/2006/table">
            <a:tbl>
              <a:tblPr firstRow="1"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100" b="1">
                          <a:solidFill>
                            <a:srgbClr val="FFFFFF"/>
                          </a:solidFill>
                        </a:rPr>
                        <a:t>Key findings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050">
                          <a:solidFill>
                            <a:srgbClr val="1F1F1F"/>
                          </a:solidFill>
                        </a:rPr>
                        <a:t>RAG v1 (always top-3, KB v1) lowered accuracy almost everywhere: −11.9 points on average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050">
                          <a:solidFill>
                            <a:srgbClr val="1F1F1F"/>
                          </a:solidFill>
                        </a:rPr>
                        <a:t>Cause: the KB held the answer for only 7–14% of questions; models refused or copied wrong cards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050">
                          <a:solidFill>
                            <a:srgbClr val="1F1F1F"/>
                          </a:solidFill>
                        </a:rPr>
                        <a:t>RAG v2 (question-driven KB + rerank + cut-off τ = 0.45 + gate) improves every AZ/ET setting for all 3 models (+8.6 to +36.9)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050">
                          <a:solidFill>
                            <a:srgbClr val="1F1F1F"/>
                          </a:solidFill>
                        </a:rPr>
                        <a:t>High–low resource gap: 27.2 → 18.7 (v1) → 2.0 (v2) points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050">
                          <a:solidFill>
                            <a:srgbClr val="1F1F1F"/>
                          </a:solidFill>
                        </a:rPr>
                        <a:t>Cost: high-resource countries (old KB only) lose 1.7–6.4 points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900">
                          <a:solidFill>
                            <a:srgbClr val="595959"/>
                          </a:solidFill>
                        </a:rPr>
                        <a:t>SEM-B %, mean of 3 models × 2 prompts (official BLEnD scorer). High-resource = US, ES, KR (α, τ tuned here); low-resource = AZ, ET (held out).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431</Words>
  <Application>Microsoft Office PowerPoint</Application>
  <PresentationFormat>On-screen Show (16:9)</PresentationFormat>
  <Paragraphs>125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Simple Light</vt:lpstr>
      <vt:lpstr>Problem Statement</vt:lpstr>
      <vt:lpstr>Architecture</vt:lpstr>
      <vt:lpstr>Results and Findings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Siddharth Rai</cp:lastModifiedBy>
  <cp:revision>1</cp:revision>
  <dcterms:modified xsi:type="dcterms:W3CDTF">2026-10-09T12:47:52Z</dcterms:modified>
</cp:coreProperties>
</file>